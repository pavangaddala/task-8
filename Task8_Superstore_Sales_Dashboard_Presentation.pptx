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9BD176-6377-4520-8E54-ED142B43097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7C6C84-A257-48D8-895A-7CD7E7C88D5D}">
      <dgm:prSet/>
      <dgm:spPr/>
      <dgm:t>
        <a:bodyPr/>
        <a:lstStyle/>
        <a:p>
          <a:r>
            <a:rPr lang="en-US" b="1"/>
            <a:t>Thank you for viewing my Sales Dashboard!</a:t>
          </a:r>
          <a:endParaRPr lang="en-US"/>
        </a:p>
      </dgm:t>
    </dgm:pt>
    <dgm:pt modelId="{41D0D2DC-7700-4C1B-B830-C3BB4AC7E8B2}" type="parTrans" cxnId="{1CAD4AEE-9B1C-439A-9327-8DD3939EF846}">
      <dgm:prSet/>
      <dgm:spPr/>
      <dgm:t>
        <a:bodyPr/>
        <a:lstStyle/>
        <a:p>
          <a:endParaRPr lang="en-US"/>
        </a:p>
      </dgm:t>
    </dgm:pt>
    <dgm:pt modelId="{BB9B5471-580C-4AA6-AE14-4CFA4C7EC0C9}" type="sibTrans" cxnId="{1CAD4AEE-9B1C-439A-9327-8DD3939EF846}">
      <dgm:prSet/>
      <dgm:spPr/>
      <dgm:t>
        <a:bodyPr/>
        <a:lstStyle/>
        <a:p>
          <a:endParaRPr lang="en-US"/>
        </a:p>
      </dgm:t>
    </dgm:pt>
    <dgm:pt modelId="{17045CCC-5806-4A73-BB38-D3295FD49872}">
      <dgm:prSet/>
      <dgm:spPr/>
      <dgm:t>
        <a:bodyPr/>
        <a:lstStyle/>
        <a:p>
          <a:r>
            <a:rPr lang="en-US" b="1"/>
            <a:t>I hope this presentation provided clear insights into the sales performance across regions, categories, and time.</a:t>
          </a:r>
          <a:endParaRPr lang="en-US"/>
        </a:p>
      </dgm:t>
    </dgm:pt>
    <dgm:pt modelId="{25D1E564-D638-4325-8EBA-AB640CE2F30E}" type="parTrans" cxnId="{2D48F3DE-DF33-4ACC-B18C-236D06A88AF9}">
      <dgm:prSet/>
      <dgm:spPr/>
      <dgm:t>
        <a:bodyPr/>
        <a:lstStyle/>
        <a:p>
          <a:endParaRPr lang="en-US"/>
        </a:p>
      </dgm:t>
    </dgm:pt>
    <dgm:pt modelId="{CAD6E396-31AF-4360-A1F9-4800F20EB30E}" type="sibTrans" cxnId="{2D48F3DE-DF33-4ACC-B18C-236D06A88AF9}">
      <dgm:prSet/>
      <dgm:spPr/>
      <dgm:t>
        <a:bodyPr/>
        <a:lstStyle/>
        <a:p>
          <a:endParaRPr lang="en-US"/>
        </a:p>
      </dgm:t>
    </dgm:pt>
    <dgm:pt modelId="{ABEA4EA3-0CFF-4DF8-853F-19330278A6FE}">
      <dgm:prSet/>
      <dgm:spPr/>
      <dgm:t>
        <a:bodyPr/>
        <a:lstStyle/>
        <a:p>
          <a:r>
            <a:rPr lang="en-US" b="1"/>
            <a:t>Looking forward to your feedback!</a:t>
          </a:r>
          <a:endParaRPr lang="en-US"/>
        </a:p>
      </dgm:t>
    </dgm:pt>
    <dgm:pt modelId="{856A4A72-0985-4E5F-95B3-533773066557}" type="parTrans" cxnId="{EA7FBBDC-DD0C-4430-8F68-314279E5F40A}">
      <dgm:prSet/>
      <dgm:spPr/>
      <dgm:t>
        <a:bodyPr/>
        <a:lstStyle/>
        <a:p>
          <a:endParaRPr lang="en-US"/>
        </a:p>
      </dgm:t>
    </dgm:pt>
    <dgm:pt modelId="{0BA4532A-7B24-499A-A1CB-F63507DD67F5}" type="sibTrans" cxnId="{EA7FBBDC-DD0C-4430-8F68-314279E5F40A}">
      <dgm:prSet/>
      <dgm:spPr/>
      <dgm:t>
        <a:bodyPr/>
        <a:lstStyle/>
        <a:p>
          <a:endParaRPr lang="en-US"/>
        </a:p>
      </dgm:t>
    </dgm:pt>
    <dgm:pt modelId="{FBF31216-A67B-45DC-B777-BA6E4169C27D}" type="pres">
      <dgm:prSet presAssocID="{259BD176-6377-4520-8E54-ED142B430976}" presName="root" presStyleCnt="0">
        <dgm:presLayoutVars>
          <dgm:dir/>
          <dgm:resizeHandles val="exact"/>
        </dgm:presLayoutVars>
      </dgm:prSet>
      <dgm:spPr/>
    </dgm:pt>
    <dgm:pt modelId="{1475DBA0-E8C1-4CC8-974B-771D11CFFC31}" type="pres">
      <dgm:prSet presAssocID="{0D7C6C84-A257-48D8-895A-7CD7E7C88D5D}" presName="compNode" presStyleCnt="0"/>
      <dgm:spPr/>
    </dgm:pt>
    <dgm:pt modelId="{53A893D3-0FC4-4DDA-950A-021A00EA5F6D}" type="pres">
      <dgm:prSet presAssocID="{0D7C6C84-A257-48D8-895A-7CD7E7C88D5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79E3E1AA-8EC7-45A3-AA12-2CBC439A7C17}" type="pres">
      <dgm:prSet presAssocID="{0D7C6C84-A257-48D8-895A-7CD7E7C88D5D}" presName="spaceRect" presStyleCnt="0"/>
      <dgm:spPr/>
    </dgm:pt>
    <dgm:pt modelId="{565AB104-6E26-4522-B7AF-A552DA932F42}" type="pres">
      <dgm:prSet presAssocID="{0D7C6C84-A257-48D8-895A-7CD7E7C88D5D}" presName="textRect" presStyleLbl="revTx" presStyleIdx="0" presStyleCnt="3">
        <dgm:presLayoutVars>
          <dgm:chMax val="1"/>
          <dgm:chPref val="1"/>
        </dgm:presLayoutVars>
      </dgm:prSet>
      <dgm:spPr/>
    </dgm:pt>
    <dgm:pt modelId="{E51F0143-9A76-4A15-A572-7016B2F4A9F9}" type="pres">
      <dgm:prSet presAssocID="{BB9B5471-580C-4AA6-AE14-4CFA4C7EC0C9}" presName="sibTrans" presStyleCnt="0"/>
      <dgm:spPr/>
    </dgm:pt>
    <dgm:pt modelId="{3FF80CCD-591A-4B72-B510-90392BECD06A}" type="pres">
      <dgm:prSet presAssocID="{17045CCC-5806-4A73-BB38-D3295FD49872}" presName="compNode" presStyleCnt="0"/>
      <dgm:spPr/>
    </dgm:pt>
    <dgm:pt modelId="{385E8A1F-1630-4366-AD10-1879AE0F47F1}" type="pres">
      <dgm:prSet presAssocID="{17045CCC-5806-4A73-BB38-D3295FD4987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67D7E70-2A3C-460E-AEEF-BFBE27866DE2}" type="pres">
      <dgm:prSet presAssocID="{17045CCC-5806-4A73-BB38-D3295FD49872}" presName="spaceRect" presStyleCnt="0"/>
      <dgm:spPr/>
    </dgm:pt>
    <dgm:pt modelId="{F9794153-423C-4C00-B2BF-EB1D8B8116D5}" type="pres">
      <dgm:prSet presAssocID="{17045CCC-5806-4A73-BB38-D3295FD49872}" presName="textRect" presStyleLbl="revTx" presStyleIdx="1" presStyleCnt="3">
        <dgm:presLayoutVars>
          <dgm:chMax val="1"/>
          <dgm:chPref val="1"/>
        </dgm:presLayoutVars>
      </dgm:prSet>
      <dgm:spPr/>
    </dgm:pt>
    <dgm:pt modelId="{739E8887-850B-403C-A5E4-B4B45617E55C}" type="pres">
      <dgm:prSet presAssocID="{CAD6E396-31AF-4360-A1F9-4800F20EB30E}" presName="sibTrans" presStyleCnt="0"/>
      <dgm:spPr/>
    </dgm:pt>
    <dgm:pt modelId="{DA044D22-FBDA-4BEA-9090-469F369E1B01}" type="pres">
      <dgm:prSet presAssocID="{ABEA4EA3-0CFF-4DF8-853F-19330278A6FE}" presName="compNode" presStyleCnt="0"/>
      <dgm:spPr/>
    </dgm:pt>
    <dgm:pt modelId="{A1980CC6-679E-437D-9F65-F5C1D2F96384}" type="pres">
      <dgm:prSet presAssocID="{ABEA4EA3-0CFF-4DF8-853F-19330278A6F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"/>
        </a:ext>
      </dgm:extLst>
    </dgm:pt>
    <dgm:pt modelId="{D6FFDF19-76F1-402B-B257-218E39F03509}" type="pres">
      <dgm:prSet presAssocID="{ABEA4EA3-0CFF-4DF8-853F-19330278A6FE}" presName="spaceRect" presStyleCnt="0"/>
      <dgm:spPr/>
    </dgm:pt>
    <dgm:pt modelId="{AE8042C0-A561-4F2C-8DED-5286C0C64834}" type="pres">
      <dgm:prSet presAssocID="{ABEA4EA3-0CFF-4DF8-853F-19330278A6F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CE4CE04-3199-4347-B3F7-0E92C3D8D705}" type="presOf" srcId="{17045CCC-5806-4A73-BB38-D3295FD49872}" destId="{F9794153-423C-4C00-B2BF-EB1D8B8116D5}" srcOrd="0" destOrd="0" presId="urn:microsoft.com/office/officeart/2018/2/layout/IconLabelList"/>
    <dgm:cxn modelId="{6C87C02D-5EAD-49C5-B39C-94B2E6E78404}" type="presOf" srcId="{259BD176-6377-4520-8E54-ED142B430976}" destId="{FBF31216-A67B-45DC-B777-BA6E4169C27D}" srcOrd="0" destOrd="0" presId="urn:microsoft.com/office/officeart/2018/2/layout/IconLabelList"/>
    <dgm:cxn modelId="{F4541D66-3730-48F6-B63E-76C6D417F354}" type="presOf" srcId="{0D7C6C84-A257-48D8-895A-7CD7E7C88D5D}" destId="{565AB104-6E26-4522-B7AF-A552DA932F42}" srcOrd="0" destOrd="0" presId="urn:microsoft.com/office/officeart/2018/2/layout/IconLabelList"/>
    <dgm:cxn modelId="{EA7FBBDC-DD0C-4430-8F68-314279E5F40A}" srcId="{259BD176-6377-4520-8E54-ED142B430976}" destId="{ABEA4EA3-0CFF-4DF8-853F-19330278A6FE}" srcOrd="2" destOrd="0" parTransId="{856A4A72-0985-4E5F-95B3-533773066557}" sibTransId="{0BA4532A-7B24-499A-A1CB-F63507DD67F5}"/>
    <dgm:cxn modelId="{2D48F3DE-DF33-4ACC-B18C-236D06A88AF9}" srcId="{259BD176-6377-4520-8E54-ED142B430976}" destId="{17045CCC-5806-4A73-BB38-D3295FD49872}" srcOrd="1" destOrd="0" parTransId="{25D1E564-D638-4325-8EBA-AB640CE2F30E}" sibTransId="{CAD6E396-31AF-4360-A1F9-4800F20EB30E}"/>
    <dgm:cxn modelId="{BA950EDF-F60B-4A91-8086-3F9EEEF2C594}" type="presOf" srcId="{ABEA4EA3-0CFF-4DF8-853F-19330278A6FE}" destId="{AE8042C0-A561-4F2C-8DED-5286C0C64834}" srcOrd="0" destOrd="0" presId="urn:microsoft.com/office/officeart/2018/2/layout/IconLabelList"/>
    <dgm:cxn modelId="{1CAD4AEE-9B1C-439A-9327-8DD3939EF846}" srcId="{259BD176-6377-4520-8E54-ED142B430976}" destId="{0D7C6C84-A257-48D8-895A-7CD7E7C88D5D}" srcOrd="0" destOrd="0" parTransId="{41D0D2DC-7700-4C1B-B830-C3BB4AC7E8B2}" sibTransId="{BB9B5471-580C-4AA6-AE14-4CFA4C7EC0C9}"/>
    <dgm:cxn modelId="{0934B1D3-FA65-4C3D-B159-42E5F7888E23}" type="presParOf" srcId="{FBF31216-A67B-45DC-B777-BA6E4169C27D}" destId="{1475DBA0-E8C1-4CC8-974B-771D11CFFC31}" srcOrd="0" destOrd="0" presId="urn:microsoft.com/office/officeart/2018/2/layout/IconLabelList"/>
    <dgm:cxn modelId="{E675D97D-36F9-460E-B490-F8E55461268D}" type="presParOf" srcId="{1475DBA0-E8C1-4CC8-974B-771D11CFFC31}" destId="{53A893D3-0FC4-4DDA-950A-021A00EA5F6D}" srcOrd="0" destOrd="0" presId="urn:microsoft.com/office/officeart/2018/2/layout/IconLabelList"/>
    <dgm:cxn modelId="{6A9F961C-EDD2-42A4-B759-D097983FDD4E}" type="presParOf" srcId="{1475DBA0-E8C1-4CC8-974B-771D11CFFC31}" destId="{79E3E1AA-8EC7-45A3-AA12-2CBC439A7C17}" srcOrd="1" destOrd="0" presId="urn:microsoft.com/office/officeart/2018/2/layout/IconLabelList"/>
    <dgm:cxn modelId="{2ADCB8E1-0555-4C5B-B5E2-EA5AC85ACA22}" type="presParOf" srcId="{1475DBA0-E8C1-4CC8-974B-771D11CFFC31}" destId="{565AB104-6E26-4522-B7AF-A552DA932F42}" srcOrd="2" destOrd="0" presId="urn:microsoft.com/office/officeart/2018/2/layout/IconLabelList"/>
    <dgm:cxn modelId="{C754F40B-0B75-4BDF-AA72-5C973982F31C}" type="presParOf" srcId="{FBF31216-A67B-45DC-B777-BA6E4169C27D}" destId="{E51F0143-9A76-4A15-A572-7016B2F4A9F9}" srcOrd="1" destOrd="0" presId="urn:microsoft.com/office/officeart/2018/2/layout/IconLabelList"/>
    <dgm:cxn modelId="{AC56DA76-4A8E-4A30-87E7-24E7E635AFCE}" type="presParOf" srcId="{FBF31216-A67B-45DC-B777-BA6E4169C27D}" destId="{3FF80CCD-591A-4B72-B510-90392BECD06A}" srcOrd="2" destOrd="0" presId="urn:microsoft.com/office/officeart/2018/2/layout/IconLabelList"/>
    <dgm:cxn modelId="{F63C3DE1-9ECE-431A-9689-9618D6544A1D}" type="presParOf" srcId="{3FF80CCD-591A-4B72-B510-90392BECD06A}" destId="{385E8A1F-1630-4366-AD10-1879AE0F47F1}" srcOrd="0" destOrd="0" presId="urn:microsoft.com/office/officeart/2018/2/layout/IconLabelList"/>
    <dgm:cxn modelId="{82B05EA1-3777-4ECF-A9E6-2928FC4D7A10}" type="presParOf" srcId="{3FF80CCD-591A-4B72-B510-90392BECD06A}" destId="{F67D7E70-2A3C-460E-AEEF-BFBE27866DE2}" srcOrd="1" destOrd="0" presId="urn:microsoft.com/office/officeart/2018/2/layout/IconLabelList"/>
    <dgm:cxn modelId="{1EFBDBAB-9BCA-41AD-A16E-DE3CA9A5B925}" type="presParOf" srcId="{3FF80CCD-591A-4B72-B510-90392BECD06A}" destId="{F9794153-423C-4C00-B2BF-EB1D8B8116D5}" srcOrd="2" destOrd="0" presId="urn:microsoft.com/office/officeart/2018/2/layout/IconLabelList"/>
    <dgm:cxn modelId="{ACFB8D35-C936-4ED5-8EAC-4F5ABF8C4E0A}" type="presParOf" srcId="{FBF31216-A67B-45DC-B777-BA6E4169C27D}" destId="{739E8887-850B-403C-A5E4-B4B45617E55C}" srcOrd="3" destOrd="0" presId="urn:microsoft.com/office/officeart/2018/2/layout/IconLabelList"/>
    <dgm:cxn modelId="{87257273-8678-4E02-82F4-7F95E80C17F2}" type="presParOf" srcId="{FBF31216-A67B-45DC-B777-BA6E4169C27D}" destId="{DA044D22-FBDA-4BEA-9090-469F369E1B01}" srcOrd="4" destOrd="0" presId="urn:microsoft.com/office/officeart/2018/2/layout/IconLabelList"/>
    <dgm:cxn modelId="{086AE433-B926-4D8A-8901-3A14A0B56273}" type="presParOf" srcId="{DA044D22-FBDA-4BEA-9090-469F369E1B01}" destId="{A1980CC6-679E-437D-9F65-F5C1D2F96384}" srcOrd="0" destOrd="0" presId="urn:microsoft.com/office/officeart/2018/2/layout/IconLabelList"/>
    <dgm:cxn modelId="{A3C6B270-7C7A-4ED3-9B98-DE71DCBB6135}" type="presParOf" srcId="{DA044D22-FBDA-4BEA-9090-469F369E1B01}" destId="{D6FFDF19-76F1-402B-B257-218E39F03509}" srcOrd="1" destOrd="0" presId="urn:microsoft.com/office/officeart/2018/2/layout/IconLabelList"/>
    <dgm:cxn modelId="{53135C6F-A471-4778-847B-E92CE77EFA63}" type="presParOf" srcId="{DA044D22-FBDA-4BEA-9090-469F369E1B01}" destId="{AE8042C0-A561-4F2C-8DED-5286C0C6483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A893D3-0FC4-4DDA-950A-021A00EA5F6D}">
      <dsp:nvSpPr>
        <dsp:cNvPr id="0" name=""/>
        <dsp:cNvSpPr/>
      </dsp:nvSpPr>
      <dsp:spPr>
        <a:xfrm>
          <a:off x="1063980" y="635603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5AB104-6E26-4522-B7AF-A552DA932F42}">
      <dsp:nvSpPr>
        <dsp:cNvPr id="0" name=""/>
        <dsp:cNvSpPr/>
      </dsp:nvSpPr>
      <dsp:spPr>
        <a:xfrm>
          <a:off x="285097" y="2262241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Thank you for viewing my Sales Dashboard!</a:t>
          </a:r>
          <a:endParaRPr lang="en-US" sz="1300" kern="1200"/>
        </a:p>
      </dsp:txBody>
      <dsp:txXfrm>
        <a:off x="285097" y="2262241"/>
        <a:ext cx="2832300" cy="720000"/>
      </dsp:txXfrm>
    </dsp:sp>
    <dsp:sp modelId="{385E8A1F-1630-4366-AD10-1879AE0F47F1}">
      <dsp:nvSpPr>
        <dsp:cNvPr id="0" name=""/>
        <dsp:cNvSpPr/>
      </dsp:nvSpPr>
      <dsp:spPr>
        <a:xfrm>
          <a:off x="4391932" y="635603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94153-423C-4C00-B2BF-EB1D8B8116D5}">
      <dsp:nvSpPr>
        <dsp:cNvPr id="0" name=""/>
        <dsp:cNvSpPr/>
      </dsp:nvSpPr>
      <dsp:spPr>
        <a:xfrm>
          <a:off x="3613050" y="2262241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I hope this presentation provided clear insights into the sales performance across regions, categories, and time.</a:t>
          </a:r>
          <a:endParaRPr lang="en-US" sz="1300" kern="1200"/>
        </a:p>
      </dsp:txBody>
      <dsp:txXfrm>
        <a:off x="3613050" y="2262241"/>
        <a:ext cx="2832300" cy="720000"/>
      </dsp:txXfrm>
    </dsp:sp>
    <dsp:sp modelId="{A1980CC6-679E-437D-9F65-F5C1D2F96384}">
      <dsp:nvSpPr>
        <dsp:cNvPr id="0" name=""/>
        <dsp:cNvSpPr/>
      </dsp:nvSpPr>
      <dsp:spPr>
        <a:xfrm>
          <a:off x="7719885" y="635603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042C0-A561-4F2C-8DED-5286C0C64834}">
      <dsp:nvSpPr>
        <dsp:cNvPr id="0" name=""/>
        <dsp:cNvSpPr/>
      </dsp:nvSpPr>
      <dsp:spPr>
        <a:xfrm>
          <a:off x="6941002" y="2262241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Looking forward to your feedback!</a:t>
          </a:r>
          <a:endParaRPr lang="en-US" sz="1300" kern="1200"/>
        </a:p>
      </dsp:txBody>
      <dsp:txXfrm>
        <a:off x="6941002" y="2262241"/>
        <a:ext cx="28323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50D2-0422-4F8A-8915-20414E0FE896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EA7FB76-BC64-491A-A0C5-E645C64F3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196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50D2-0422-4F8A-8915-20414E0FE896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FB76-BC64-491A-A0C5-E645C64F3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325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10F50D2-0422-4F8A-8915-20414E0FE896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EA7FB76-BC64-491A-A0C5-E645C64F3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113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50D2-0422-4F8A-8915-20414E0FE896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FB76-BC64-491A-A0C5-E645C64F3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09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50D2-0422-4F8A-8915-20414E0FE896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FB76-BC64-491A-A0C5-E645C64F3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918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50D2-0422-4F8A-8915-20414E0FE896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FB76-BC64-491A-A0C5-E645C64F3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54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50D2-0422-4F8A-8915-20414E0FE896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FB76-BC64-491A-A0C5-E645C64F3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0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50D2-0422-4F8A-8915-20414E0FE896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FB76-BC64-491A-A0C5-E645C64F3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253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50D2-0422-4F8A-8915-20414E0FE896}" type="datetimeFigureOut">
              <a:rPr lang="en-IN" smtClean="0"/>
              <a:t>02-05-2025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FB76-BC64-491A-A0C5-E645C64F3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365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50D2-0422-4F8A-8915-20414E0FE896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FB76-BC64-491A-A0C5-E645C64F3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185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50D2-0422-4F8A-8915-20414E0FE896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FB76-BC64-491A-A0C5-E645C64F3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50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10F50D2-0422-4F8A-8915-20414E0FE896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EA7FB76-BC64-491A-A0C5-E645C64F3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313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microsoft.com/office/2007/relationships/hdphoto" Target="../media/hdphoto1.wdp"/><Relationship Id="rId7" Type="http://schemas.openxmlformats.org/officeDocument/2006/relationships/diagramLayout" Target="../diagrams/layou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microsoft.com/office/2007/relationships/hdphoto" Target="../media/hdphoto2.wdp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DF3BDB2-0586-430E-811A-74BAFDEE6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1E305B-0351-4E03-8C1B-F23D3A346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152" y="928117"/>
            <a:ext cx="6629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848660-F9C2-4F86-A218-6AE0FB4CC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1336" y="1110053"/>
            <a:ext cx="6630506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61376" y="1432223"/>
            <a:ext cx="6057144" cy="3357976"/>
          </a:xfrm>
        </p:spPr>
        <p:txBody>
          <a:bodyPr>
            <a:normAutofit/>
          </a:bodyPr>
          <a:lstStyle/>
          <a:p>
            <a:r>
              <a:rPr lang="en-US" sz="8000"/>
              <a:t>Superstore Sales Dashboard</a:t>
            </a:r>
            <a:endParaRPr lang="en-IN" sz="8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ABD882-B7CE-4433-B509-99205DB70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152" y="5780565"/>
            <a:ext cx="6629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9F6A645-6137-4F43-8E88-D91CC337D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A2C783A-4EEE-481B-815A-A1BB14F4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0186437-0053-4886-B612-804E4DC90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8490" y="4790198"/>
            <a:ext cx="6080030" cy="687058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rgbClr val="000000"/>
                </a:solidFill>
                <a:latin typeface="Arial Black" panose="020B0A04020102020204" pitchFamily="34" charset="0"/>
              </a:rPr>
              <a:t>BY- </a:t>
            </a:r>
            <a:r>
              <a:rPr lang="en-IN" sz="2000">
                <a:solidFill>
                  <a:srgbClr val="000000"/>
                </a:solidFill>
                <a:latin typeface="Arial Black" panose="020B0A04020102020204" pitchFamily="34" charset="0"/>
              </a:rPr>
              <a:t>Pavan Gaddala</a:t>
            </a:r>
          </a:p>
          <a:p>
            <a:endParaRPr lang="en-IN" altLang="en-US" sz="200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Graphic 7" descr="Bar chart">
            <a:extLst>
              <a:ext uri="{FF2B5EF4-FFF2-40B4-BE49-F238E27FC236}">
                <a16:creationId xmlns:a16="http://schemas.microsoft.com/office/drawing/2014/main" id="{B0F1D8B4-2598-02C2-FA23-4565DA227F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915" y="1686320"/>
            <a:ext cx="3416725" cy="341672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445760" y="47701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E9FBC8E-8666-4442-8D7D-B250510CD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84" y="2005"/>
            <a:ext cx="10908632" cy="6853991"/>
          </a:xfrm>
          <a:custGeom>
            <a:avLst/>
            <a:gdLst>
              <a:gd name="connsiteX0" fmla="*/ 9059740 w 10908632"/>
              <a:gd name="connsiteY0" fmla="*/ 0 h 6853991"/>
              <a:gd name="connsiteX1" fmla="*/ 9694921 w 10908632"/>
              <a:gd name="connsiteY1" fmla="*/ 0 h 6853991"/>
              <a:gd name="connsiteX2" fmla="*/ 9825053 w 10908632"/>
              <a:gd name="connsiteY2" fmla="*/ 165594 h 6853991"/>
              <a:gd name="connsiteX3" fmla="*/ 10908632 w 10908632"/>
              <a:gd name="connsiteY3" fmla="*/ 3429000 h 6853991"/>
              <a:gd name="connsiteX4" fmla="*/ 9825053 w 10908632"/>
              <a:gd name="connsiteY4" fmla="*/ 6692406 h 6853991"/>
              <a:gd name="connsiteX5" fmla="*/ 9698072 w 10908632"/>
              <a:gd name="connsiteY5" fmla="*/ 6853991 h 6853991"/>
              <a:gd name="connsiteX6" fmla="*/ 9063562 w 10908632"/>
              <a:gd name="connsiteY6" fmla="*/ 6853991 h 6853991"/>
              <a:gd name="connsiteX7" fmla="*/ 9138428 w 10908632"/>
              <a:gd name="connsiteY7" fmla="*/ 6775466 h 6853991"/>
              <a:gd name="connsiteX8" fmla="*/ 10431379 w 10908632"/>
              <a:gd name="connsiteY8" fmla="*/ 3429000 h 6853991"/>
              <a:gd name="connsiteX9" fmla="*/ 9138428 w 10908632"/>
              <a:gd name="connsiteY9" fmla="*/ 82534 h 6853991"/>
              <a:gd name="connsiteX10" fmla="*/ 2037821 w 10908632"/>
              <a:gd name="connsiteY10" fmla="*/ 0 h 6853991"/>
              <a:gd name="connsiteX11" fmla="*/ 8870811 w 10908632"/>
              <a:gd name="connsiteY11" fmla="*/ 0 h 6853991"/>
              <a:gd name="connsiteX12" fmla="*/ 8877212 w 10908632"/>
              <a:gd name="connsiteY12" fmla="*/ 6103 h 6853991"/>
              <a:gd name="connsiteX13" fmla="*/ 10295021 w 10908632"/>
              <a:gd name="connsiteY13" fmla="*/ 3429000 h 6853991"/>
              <a:gd name="connsiteX14" fmla="*/ 8877212 w 10908632"/>
              <a:gd name="connsiteY14" fmla="*/ 6851897 h 6853991"/>
              <a:gd name="connsiteX15" fmla="*/ 8875015 w 10908632"/>
              <a:gd name="connsiteY15" fmla="*/ 6853991 h 6853991"/>
              <a:gd name="connsiteX16" fmla="*/ 2033617 w 10908632"/>
              <a:gd name="connsiteY16" fmla="*/ 6853991 h 6853991"/>
              <a:gd name="connsiteX17" fmla="*/ 2031421 w 10908632"/>
              <a:gd name="connsiteY17" fmla="*/ 6851897 h 6853991"/>
              <a:gd name="connsiteX18" fmla="*/ 613611 w 10908632"/>
              <a:gd name="connsiteY18" fmla="*/ 3429000 h 6853991"/>
              <a:gd name="connsiteX19" fmla="*/ 2031420 w 10908632"/>
              <a:gd name="connsiteY19" fmla="*/ 6103 h 6853991"/>
              <a:gd name="connsiteX20" fmla="*/ 1213711 w 10908632"/>
              <a:gd name="connsiteY20" fmla="*/ 0 h 6853991"/>
              <a:gd name="connsiteX21" fmla="*/ 1848893 w 10908632"/>
              <a:gd name="connsiteY21" fmla="*/ 0 h 6853991"/>
              <a:gd name="connsiteX22" fmla="*/ 1770204 w 10908632"/>
              <a:gd name="connsiteY22" fmla="*/ 82534 h 6853991"/>
              <a:gd name="connsiteX23" fmla="*/ 477253 w 10908632"/>
              <a:gd name="connsiteY23" fmla="*/ 3429000 h 6853991"/>
              <a:gd name="connsiteX24" fmla="*/ 1770204 w 10908632"/>
              <a:gd name="connsiteY24" fmla="*/ 6775466 h 6853991"/>
              <a:gd name="connsiteX25" fmla="*/ 1845071 w 10908632"/>
              <a:gd name="connsiteY25" fmla="*/ 6853991 h 6853991"/>
              <a:gd name="connsiteX26" fmla="*/ 1210561 w 10908632"/>
              <a:gd name="connsiteY26" fmla="*/ 6853991 h 6853991"/>
              <a:gd name="connsiteX27" fmla="*/ 1083579 w 10908632"/>
              <a:gd name="connsiteY27" fmla="*/ 6692406 h 6853991"/>
              <a:gd name="connsiteX28" fmla="*/ 0 w 10908632"/>
              <a:gd name="connsiteY28" fmla="*/ 3429000 h 6853991"/>
              <a:gd name="connsiteX29" fmla="*/ 1083579 w 10908632"/>
              <a:gd name="connsiteY29" fmla="*/ 165594 h 6853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0908632" h="6853991">
                <a:moveTo>
                  <a:pt x="9059740" y="0"/>
                </a:moveTo>
                <a:lnTo>
                  <a:pt x="9694921" y="0"/>
                </a:lnTo>
                <a:lnTo>
                  <a:pt x="9825053" y="165594"/>
                </a:lnTo>
                <a:cubicBezTo>
                  <a:pt x="10505610" y="1075607"/>
                  <a:pt x="10908632" y="2205238"/>
                  <a:pt x="10908632" y="3429000"/>
                </a:cubicBezTo>
                <a:cubicBezTo>
                  <a:pt x="10908632" y="4652762"/>
                  <a:pt x="10505610" y="5782393"/>
                  <a:pt x="9825053" y="6692406"/>
                </a:cubicBezTo>
                <a:lnTo>
                  <a:pt x="9698072" y="6853991"/>
                </a:lnTo>
                <a:lnTo>
                  <a:pt x="9063562" y="6853991"/>
                </a:lnTo>
                <a:lnTo>
                  <a:pt x="9138428" y="6775466"/>
                </a:lnTo>
                <a:cubicBezTo>
                  <a:pt x="9941761" y="5891604"/>
                  <a:pt x="10431379" y="4717480"/>
                  <a:pt x="10431379" y="3429000"/>
                </a:cubicBezTo>
                <a:cubicBezTo>
                  <a:pt x="10431379" y="2140521"/>
                  <a:pt x="9941761" y="966397"/>
                  <a:pt x="9138428" y="82534"/>
                </a:cubicBezTo>
                <a:close/>
                <a:moveTo>
                  <a:pt x="2037821" y="0"/>
                </a:moveTo>
                <a:lnTo>
                  <a:pt x="8870811" y="0"/>
                </a:lnTo>
                <a:lnTo>
                  <a:pt x="8877212" y="6103"/>
                </a:lnTo>
                <a:cubicBezTo>
                  <a:pt x="9753207" y="882099"/>
                  <a:pt x="10295021" y="2092275"/>
                  <a:pt x="10295021" y="3429000"/>
                </a:cubicBezTo>
                <a:cubicBezTo>
                  <a:pt x="10295021" y="4765725"/>
                  <a:pt x="9753207" y="5975902"/>
                  <a:pt x="8877212" y="6851897"/>
                </a:cubicBezTo>
                <a:lnTo>
                  <a:pt x="8875015" y="6853991"/>
                </a:lnTo>
                <a:lnTo>
                  <a:pt x="2033617" y="6853991"/>
                </a:lnTo>
                <a:lnTo>
                  <a:pt x="2031421" y="6851897"/>
                </a:lnTo>
                <a:cubicBezTo>
                  <a:pt x="1155426" y="5975902"/>
                  <a:pt x="613611" y="4765725"/>
                  <a:pt x="613611" y="3429000"/>
                </a:cubicBezTo>
                <a:cubicBezTo>
                  <a:pt x="613611" y="2092275"/>
                  <a:pt x="1155425" y="882099"/>
                  <a:pt x="2031420" y="6103"/>
                </a:cubicBezTo>
                <a:close/>
                <a:moveTo>
                  <a:pt x="1213711" y="0"/>
                </a:moveTo>
                <a:lnTo>
                  <a:pt x="1848893" y="0"/>
                </a:lnTo>
                <a:lnTo>
                  <a:pt x="1770204" y="82534"/>
                </a:lnTo>
                <a:cubicBezTo>
                  <a:pt x="966871" y="966397"/>
                  <a:pt x="477253" y="2140521"/>
                  <a:pt x="477253" y="3429000"/>
                </a:cubicBezTo>
                <a:cubicBezTo>
                  <a:pt x="477253" y="4717480"/>
                  <a:pt x="966872" y="5891604"/>
                  <a:pt x="1770204" y="6775466"/>
                </a:cubicBezTo>
                <a:lnTo>
                  <a:pt x="1845071" y="6853991"/>
                </a:lnTo>
                <a:lnTo>
                  <a:pt x="1210561" y="6853991"/>
                </a:lnTo>
                <a:lnTo>
                  <a:pt x="1083579" y="6692406"/>
                </a:lnTo>
                <a:cubicBezTo>
                  <a:pt x="403022" y="5782393"/>
                  <a:pt x="0" y="4652762"/>
                  <a:pt x="0" y="3429000"/>
                </a:cubicBezTo>
                <a:cubicBezTo>
                  <a:pt x="0" y="2205238"/>
                  <a:pt x="403022" y="1075607"/>
                  <a:pt x="1083579" y="16559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042" y="1046419"/>
            <a:ext cx="8330083" cy="470649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Graph">
            <a:extLst>
              <a:ext uri="{FF2B5EF4-FFF2-40B4-BE49-F238E27FC236}">
                <a16:creationId xmlns:a16="http://schemas.microsoft.com/office/drawing/2014/main" id="{BD99255F-196E-A23A-ADA2-87697F6894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141" r="30306"/>
          <a:stretch/>
        </p:blipFill>
        <p:spPr>
          <a:xfrm>
            <a:off x="1" y="2"/>
            <a:ext cx="6095695" cy="6857997"/>
          </a:xfrm>
          <a:custGeom>
            <a:avLst/>
            <a:gdLst/>
            <a:ahLst/>
            <a:cxnLst/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060CE1A-A2ED-43AC-857D-05822177F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2598"/>
            <a:ext cx="6095695" cy="6857997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blipFill dpi="0" rotWithShape="1">
            <a:blip r:embed="rId5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386285" y="200967"/>
            <a:ext cx="5472640" cy="5757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1400" b="1" dirty="0"/>
              <a:t>📊 Sales Dashboard – Insights: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sz="1400" b="1" dirty="0"/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400" b="1" dirty="0"/>
              <a:t>Technology is the highest revenue-generating category, contributing significantly to overall sales.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sz="1400" b="1" dirty="0"/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400" b="1" dirty="0"/>
              <a:t>The West region leads in total sales, indicating strong market performance in that area.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sz="1400" b="1" dirty="0"/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400" b="1" dirty="0"/>
              <a:t>Sales show a noticeable peak in December, suggesting seasonal spikes during year-end.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sz="1400" b="1" dirty="0"/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400" b="1" dirty="0"/>
              <a:t>The South region consistently reports the lowest sales and could benefit from targeted marketing strategies.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85E0883-9001-4D4E-9C91-E8D165DAF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AEEF45-F5C8-4322-9C98-33BB7A5A2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85E4386-A445-455A-91C4-16DE5DA9F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BDC629A2-F1BA-150F-48A4-428A63881E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6324448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</TotalTime>
  <Words>104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 Black</vt:lpstr>
      <vt:lpstr>Calibri</vt:lpstr>
      <vt:lpstr>Rockwell</vt:lpstr>
      <vt:lpstr>Rockwell Condensed</vt:lpstr>
      <vt:lpstr>Rockwell Extra Bold</vt:lpstr>
      <vt:lpstr>Wingdings</vt:lpstr>
      <vt:lpstr>Wood Type</vt:lpstr>
      <vt:lpstr>Superstore Sales Dashboard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surbhisuro01@gmail.com</dc:creator>
  <cp:lastModifiedBy>Pavan Gupta</cp:lastModifiedBy>
  <cp:revision>3</cp:revision>
  <dcterms:created xsi:type="dcterms:W3CDTF">2025-04-18T12:06:00Z</dcterms:created>
  <dcterms:modified xsi:type="dcterms:W3CDTF">2025-05-02T11:06:42Z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BB9FE4B17DA84FCAAC0817FDB6D5A18D_12</vt:lpwstr>
  </property>
  <property fmtid="{D5CDD505-2E9C-101B-9397-08002B2CF9AE}" pid="3" name="KSOProductBuildVer">
    <vt:lpwstr>1033-12.2.0.20795</vt:lpwstr>
  </property>
</Properties>
</file>